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1124712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7200" b="1">
                <a:solidFill>
                  <a:srgbClr val="FFB800"/>
                </a:solidFill>
                <a:latin typeface="Arial"/>
              </a:rPr>
              <a:t>🐑 МАЛЧИН АПП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17520"/>
            <a:ext cx="1124712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Багийн даргад зориулсан танилцуулга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31920"/>
            <a:ext cx="1124712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FFF8E1"/>
                </a:solidFill>
                <a:latin typeface="Arial"/>
              </a:rPr>
              <a:t>«Малчны өглөөний дэвтэр, өдрийн зөвлөх, оройн тооцоо»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126480"/>
            <a:ext cx="12191695" cy="7315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1B5E20"/>
                </a:solidFill>
                <a:latin typeface="Arial"/>
              </a:rPr>
              <a:t>Хөдөө сум, баг, малчид — нэг утсан дээр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1. ЭНЭ АПП ГЭЖ ЮУ ВЭ?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FFF8E1"/>
                </a:solidFill>
                <a:latin typeface="Arial"/>
              </a:rPr>
              <a:t>Богино үгээр: «Өглөө бүр нээдэг малчны дэвтэр»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212121"/>
                </a:solidFill>
                <a:latin typeface="Arial"/>
              </a:rPr>
              <a:t>Малчин хүн утсаа авмагц өнөөдрийн бүх мэдээллээ нэг дороос харна: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>
                <a:solidFill>
                  <a:srgbClr val="212121"/>
                </a:solidFill>
                <a:latin typeface="Arial"/>
              </a:rPr>
              <a:t>• Малын тоо толгой, бэлчээр, өвөлжөө хаваржаа</a:t>
            </a:r>
          </a:p>
          <a:p>
            <a:pPr algn="l">
              <a:spcAft>
                <a:spcPts val="600"/>
              </a:spcAft>
            </a:pPr>
            <a:r>
              <a:rPr sz="2000">
                <a:solidFill>
                  <a:srgbClr val="212121"/>
                </a:solidFill>
                <a:latin typeface="Arial"/>
              </a:rPr>
              <a:t>• Цаг агаар, зуд, цасны мэдээ — өөрийн нутгаар</a:t>
            </a:r>
          </a:p>
          <a:p>
            <a:pPr algn="l">
              <a:spcAft>
                <a:spcPts val="600"/>
              </a:spcAft>
            </a:pPr>
            <a:r>
              <a:rPr sz="2000">
                <a:solidFill>
                  <a:srgbClr val="212121"/>
                </a:solidFill>
                <a:latin typeface="Arial"/>
              </a:rPr>
              <a:t>• Сум, багийн зарлал — алгасахгүй</a:t>
            </a:r>
          </a:p>
          <a:p>
            <a:pPr algn="l">
              <a:spcAft>
                <a:spcPts val="600"/>
              </a:spcAft>
            </a:pPr>
            <a:r>
              <a:rPr sz="2000">
                <a:solidFill>
                  <a:srgbClr val="212121"/>
                </a:solidFill>
                <a:latin typeface="Arial"/>
              </a:rPr>
              <a:t>• Алдсан мал, олдсон малыг 2 минутад зарлах</a:t>
            </a:r>
          </a:p>
          <a:p>
            <a:pPr algn="l">
              <a:spcAft>
                <a:spcPts val="600"/>
              </a:spcAft>
            </a:pPr>
            <a:r>
              <a:rPr sz="2000">
                <a:solidFill>
                  <a:srgbClr val="212121"/>
                </a:solidFill>
                <a:latin typeface="Arial"/>
              </a:rPr>
              <a:t>• Өвс тэжээл, унаа тээвэр, ажиллах хүчний зар</a:t>
            </a:r>
          </a:p>
          <a:p>
            <a:pPr algn="l">
              <a:spcAft>
                <a:spcPts val="600"/>
              </a:spcAft>
            </a:pPr>
            <a:r>
              <a:rPr sz="2000">
                <a:solidFill>
                  <a:srgbClr val="212121"/>
                </a:solidFill>
                <a:latin typeface="Arial"/>
              </a:rPr>
              <a:t>• Малын эмчтэй уулзах цаг захиалах</a:t>
            </a:r>
          </a:p>
          <a:p>
            <a:pPr algn="l">
              <a:spcAft>
                <a:spcPts val="600"/>
              </a:spcAft>
            </a:pPr>
            <a:r>
              <a:rPr sz="2000">
                <a:solidFill>
                  <a:srgbClr val="212121"/>
                </a:solidFill>
                <a:latin typeface="Arial"/>
              </a:rPr>
              <a:t>• Ахмад малчдын ухаан, зөвлөгөө</a:t>
            </a:r>
          </a:p>
          <a:p>
            <a:pPr algn="l">
              <a:spcAft>
                <a:spcPts val="600"/>
              </a:spcAft>
            </a:pPr>
            <a:r>
              <a:rPr sz="2000">
                <a:solidFill>
                  <a:srgbClr val="212121"/>
                </a:solidFill>
                <a:latin typeface="Arial"/>
              </a:rPr>
              <a:t>• Орлого зарлагын богино тэмдэглэл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2. ЯАГААД МАЛЧДАД ХЭРЭГТЭЙ ВЭ?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FFF8E1"/>
                </a:solidFill>
                <a:latin typeface="Arial"/>
              </a:rPr>
              <a:t>Өнөөдөр малчин үүнийг бүгдийг тусдаа газраас хайдаг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3383280" cy="502920"/>
          </a:xfrm>
          <a:prstGeom prst="rect">
            <a:avLst/>
          </a:prstGeom>
          <a:solidFill>
            <a:srgbClr val="1B5E2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Юу хайдаг вэ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0" y="1280160"/>
            <a:ext cx="3840480" cy="502920"/>
          </a:xfrm>
          <a:prstGeom prst="rect">
            <a:avLst/>
          </a:prstGeom>
          <a:solidFill>
            <a:srgbClr val="1B5E2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Хаанаас хайдаг вэ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1280160"/>
            <a:ext cx="4297680" cy="502920"/>
          </a:xfrm>
          <a:prstGeom prst="rect">
            <a:avLst/>
          </a:prstGeom>
          <a:solidFill>
            <a:srgbClr val="1B5E2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Асуудал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83080"/>
            <a:ext cx="3383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>
                <a:solidFill>
                  <a:srgbClr val="212121"/>
                </a:solidFill>
                <a:latin typeface="Arial"/>
              </a:rPr>
              <a:t>Цаг агаар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783080"/>
            <a:ext cx="38404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>
                <a:solidFill>
                  <a:srgbClr val="212121"/>
                </a:solidFill>
                <a:latin typeface="Arial"/>
              </a:rPr>
              <a:t>Зурагт, радио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783080"/>
            <a:ext cx="42976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>
                <a:solidFill>
                  <a:srgbClr val="212121"/>
                </a:solidFill>
                <a:latin typeface="Arial"/>
              </a:rPr>
              <a:t>Өөрийн нутгийн биш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86000"/>
            <a:ext cx="3383280" cy="502920"/>
          </a:xfrm>
          <a:prstGeom prst="rect">
            <a:avLst/>
          </a:prstGeom>
          <a:solidFill>
            <a:srgbClr val="FFF8E1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>
                <a:solidFill>
                  <a:srgbClr val="212121"/>
                </a:solidFill>
                <a:latin typeface="Arial"/>
              </a:rPr>
              <a:t>Сумын мэдэгдэл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286000"/>
            <a:ext cx="3840480" cy="502920"/>
          </a:xfrm>
          <a:prstGeom prst="rect">
            <a:avLst/>
          </a:prstGeom>
          <a:solidFill>
            <a:srgbClr val="FFF8E1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>
                <a:solidFill>
                  <a:srgbClr val="212121"/>
                </a:solidFill>
                <a:latin typeface="Arial"/>
              </a:rPr>
              <a:t>Утсан мессеж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80960" y="2286000"/>
            <a:ext cx="4297680" cy="502920"/>
          </a:xfrm>
          <a:prstGeom prst="rect">
            <a:avLst/>
          </a:prstGeom>
          <a:solidFill>
            <a:srgbClr val="FFF8E1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>
                <a:solidFill>
                  <a:srgbClr val="212121"/>
                </a:solidFill>
                <a:latin typeface="Arial"/>
              </a:rPr>
              <a:t>Дараа алддаг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88920"/>
            <a:ext cx="3383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>
                <a:solidFill>
                  <a:srgbClr val="212121"/>
                </a:solidFill>
                <a:latin typeface="Arial"/>
              </a:rPr>
              <a:t>Алдсан мал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2788920"/>
            <a:ext cx="38404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>
                <a:solidFill>
                  <a:srgbClr val="212121"/>
                </a:solidFill>
                <a:latin typeface="Arial"/>
              </a:rPr>
              <a:t>Айлд эргэх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0" y="2788920"/>
            <a:ext cx="42976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>
                <a:solidFill>
                  <a:srgbClr val="212121"/>
                </a:solidFill>
                <a:latin typeface="Arial"/>
              </a:rPr>
              <a:t>Удаан, хол хүртдэггүй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291840"/>
            <a:ext cx="3383280" cy="502920"/>
          </a:xfrm>
          <a:prstGeom prst="rect">
            <a:avLst/>
          </a:prstGeom>
          <a:solidFill>
            <a:srgbClr val="FFF8E1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>
                <a:solidFill>
                  <a:srgbClr val="212121"/>
                </a:solidFill>
                <a:latin typeface="Arial"/>
              </a:rPr>
              <a:t>Өвс тэжээлийн үнэ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3291840"/>
            <a:ext cx="3840480" cy="502920"/>
          </a:xfrm>
          <a:prstGeom prst="rect">
            <a:avLst/>
          </a:prstGeom>
          <a:solidFill>
            <a:srgbClr val="FFF8E1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>
                <a:solidFill>
                  <a:srgbClr val="212121"/>
                </a:solidFill>
                <a:latin typeface="Arial"/>
              </a:rPr>
              <a:t>Сумын төв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80960" y="3291840"/>
            <a:ext cx="4297680" cy="502920"/>
          </a:xfrm>
          <a:prstGeom prst="rect">
            <a:avLst/>
          </a:prstGeom>
          <a:solidFill>
            <a:srgbClr val="FFF8E1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>
                <a:solidFill>
                  <a:srgbClr val="212121"/>
                </a:solidFill>
                <a:latin typeface="Arial"/>
              </a:rPr>
              <a:t>Хол явахаас өмнө мэдэхгүй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794760"/>
            <a:ext cx="3383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>
                <a:solidFill>
                  <a:srgbClr val="212121"/>
                </a:solidFill>
                <a:latin typeface="Arial"/>
              </a:rPr>
              <a:t>Зөвлөгөө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0" y="3794760"/>
            <a:ext cx="38404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>
                <a:solidFill>
                  <a:srgbClr val="212121"/>
                </a:solidFill>
                <a:latin typeface="Arial"/>
              </a:rPr>
              <a:t>Ахмад айл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80960" y="3794760"/>
            <a:ext cx="42976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>
                <a:solidFill>
                  <a:srgbClr val="212121"/>
                </a:solidFill>
                <a:latin typeface="Arial"/>
              </a:rPr>
              <a:t>Ахмад нь холдсон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297680"/>
            <a:ext cx="3383280" cy="502920"/>
          </a:xfrm>
          <a:prstGeom prst="rect">
            <a:avLst/>
          </a:prstGeom>
          <a:solidFill>
            <a:srgbClr val="FFF8E1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>
                <a:solidFill>
                  <a:srgbClr val="212121"/>
                </a:solidFill>
                <a:latin typeface="Arial"/>
              </a:rPr>
              <a:t>Малын тоо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40480" y="4297680"/>
            <a:ext cx="3840480" cy="502920"/>
          </a:xfrm>
          <a:prstGeom prst="rect">
            <a:avLst/>
          </a:prstGeom>
          <a:solidFill>
            <a:srgbClr val="FFF8E1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>
                <a:solidFill>
                  <a:srgbClr val="212121"/>
                </a:solidFill>
                <a:latin typeface="Arial"/>
              </a:rPr>
              <a:t>Толгойдоо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80960" y="4297680"/>
            <a:ext cx="4297680" cy="502920"/>
          </a:xfrm>
          <a:prstGeom prst="rect">
            <a:avLst/>
          </a:prstGeom>
          <a:solidFill>
            <a:srgbClr val="FFF8E1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>
                <a:solidFill>
                  <a:srgbClr val="212121"/>
                </a:solidFill>
                <a:latin typeface="Arial"/>
              </a:rPr>
              <a:t>Хэдэн жилд мартагддаг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852160"/>
            <a:ext cx="1124712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B5E20"/>
                </a:solidFill>
                <a:latin typeface="Arial"/>
              </a:rPr>
              <a:t>👉 Энэ апп бүгдийг нэг газар цуглуулсан. Сүлжээгүй ч ажиллана.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3.1. НЭВТРЭХ  Утасны дугаараар нэвтрэх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FFF8E1"/>
                </a:solidFill>
                <a:latin typeface="Arial"/>
              </a:rPr>
              <a:t>Аппын хуудас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51471" y="1162889"/>
            <a:ext cx="3166337" cy="5446622"/>
          </a:xfrm>
          <a:prstGeom prst="roundRect">
            <a:avLst>
              <a:gd name="adj" fmla="val 5000"/>
            </a:avLst>
          </a:prstGeom>
          <a:solidFill>
            <a:srgbClr val="212121"/>
          </a:solidFill>
          <a:ln w="254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1-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8742" y="1280160"/>
            <a:ext cx="2931795" cy="5212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0" y="1280160"/>
            <a:ext cx="6400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B5E20"/>
                </a:solidFill>
                <a:latin typeface="Arial"/>
              </a:rPr>
              <a:t>📝 Тайлбар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173736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212121"/>
                </a:solidFill>
                <a:latin typeface="Arial"/>
              </a:rPr>
              <a:t>• Зөвхөн утасны дугаараа бичнэ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12121"/>
                </a:solidFill>
                <a:latin typeface="Arial"/>
              </a:rPr>
              <a:t>• Мессежээр нууц код ирнэ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12121"/>
                </a:solidFill>
                <a:latin typeface="Arial"/>
              </a:rPr>
              <a:t>• Кодоо бичээд орно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12121"/>
                </a:solidFill>
                <a:latin typeface="Arial"/>
              </a:rPr>
              <a:t>• Имэйл, нууц үг, нэмэлт зүйл байхгүй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4572000"/>
            <a:ext cx="6400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B800"/>
                </a:solidFill>
                <a:latin typeface="Arial"/>
              </a:rPr>
              <a:t>✅ Давуу тал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5029200"/>
            <a:ext cx="6400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Arial"/>
              </a:rPr>
              <a:t>• Хөгшин малчин ч ойлгож, өөрөө бүртгүүлж чадна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Arial"/>
              </a:rPr>
              <a:t>• Имэйл бий болгох шаардлагагүй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3.2. ӨӨРИЙГӨӨ ТАНИУЛАХ  10 алхамт нэг удаагийн бүртгэл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FFF8E1"/>
                </a:solidFill>
                <a:latin typeface="Arial"/>
              </a:rPr>
              <a:t>Аппын хуудас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51471" y="1162889"/>
            <a:ext cx="3166337" cy="5446622"/>
          </a:xfrm>
          <a:prstGeom prst="roundRect">
            <a:avLst>
              <a:gd name="adj" fmla="val 5000"/>
            </a:avLst>
          </a:prstGeom>
          <a:solidFill>
            <a:srgbClr val="212121"/>
          </a:solidFill>
          <a:ln w="254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2-r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8742" y="1280160"/>
            <a:ext cx="2931795" cy="5212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0" y="1280160"/>
            <a:ext cx="6400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B5E20"/>
                </a:solidFill>
                <a:latin typeface="Arial"/>
              </a:rPr>
              <a:t>📝 Тайлбар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173736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212121"/>
                </a:solidFill>
                <a:latin typeface="Arial"/>
              </a:rPr>
              <a:t>• Овог, нэр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12121"/>
                </a:solidFill>
                <a:latin typeface="Arial"/>
              </a:rPr>
              <a:t>• Аймаг, сум, баг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12121"/>
                </a:solidFill>
                <a:latin typeface="Arial"/>
              </a:rPr>
              <a:t>• Та хэн бэ? (малчин/багийн дарга/...)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12121"/>
                </a:solidFill>
                <a:latin typeface="Arial"/>
              </a:rPr>
              <a:t>• 4 улирлын байршил — өвөлжөө, хаваржаа, зуслан, намаржаа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12121"/>
                </a:solidFill>
                <a:latin typeface="Arial"/>
              </a:rPr>
              <a:t>• Одоо хаана байгаа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12121"/>
                </a:solidFill>
                <a:latin typeface="Arial"/>
              </a:rPr>
              <a:t>• Оторлох боломжтой газар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12121"/>
                </a:solidFill>
                <a:latin typeface="Arial"/>
              </a:rPr>
              <a:t>• Малын тоо толгой (5 төрөл)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4572000"/>
            <a:ext cx="6400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B800"/>
                </a:solidFill>
                <a:latin typeface="Arial"/>
              </a:rPr>
              <a:t>✅ Давуу тал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5029200"/>
            <a:ext cx="6400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Arial"/>
              </a:rPr>
              <a:t>• Нэг л удаа бөглөнө — дараа нь дахин асуухгүй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Arial"/>
              </a:rPr>
              <a:t>• Апп өөрөө таны нутаг, малыг таниад мэдээлэл өгнө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3.3  НҮҮР ХУУДАС — «ӨНӨӨДӨР»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FFF8E1"/>
                </a:solidFill>
                <a:latin typeface="Arial"/>
              </a:rPr>
              <a:t>Өглөө апп нээмэгц гарах 9 карт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1431" y="1162889"/>
            <a:ext cx="3166337" cy="5446622"/>
          </a:xfrm>
          <a:prstGeom prst="roundRect">
            <a:avLst>
              <a:gd name="adj" fmla="val 5000"/>
            </a:avLst>
          </a:prstGeom>
          <a:solidFill>
            <a:srgbClr val="212121"/>
          </a:solidFill>
          <a:ln w="254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3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702" y="1280160"/>
            <a:ext cx="2931795" cy="5212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846320" y="1280160"/>
            <a:ext cx="233172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800"/>
              <a:t>🌤</a:t>
            </a:r>
          </a:p>
          <a:p>
            <a:pPr algn="ctr"/>
            <a:r>
              <a:rPr sz="1100" b="1">
                <a:solidFill>
                  <a:srgbClr val="1B5E20"/>
                </a:solidFill>
                <a:latin typeface="Arial"/>
              </a:rPr>
              <a:t>Өнөөдрийн цаг агаар</a:t>
            </a:r>
          </a:p>
          <a:p>
            <a:pPr algn="ctr"/>
            <a:r>
              <a:rPr sz="900">
                <a:solidFill>
                  <a:srgbClr val="555555"/>
                </a:solidFill>
                <a:latin typeface="Arial"/>
              </a:rPr>
              <a:t>Өвөлжөөны байршлаар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69480" y="1280160"/>
            <a:ext cx="233172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800"/>
              <a:t>⚠️</a:t>
            </a:r>
          </a:p>
          <a:p>
            <a:pPr algn="ctr"/>
            <a:r>
              <a:rPr sz="1100" b="1">
                <a:solidFill>
                  <a:srgbClr val="1B5E20"/>
                </a:solidFill>
                <a:latin typeface="Arial"/>
              </a:rPr>
              <a:t>Өнөөдрийн эрсдэл</a:t>
            </a:r>
          </a:p>
          <a:p>
            <a:pPr algn="ctr"/>
            <a:r>
              <a:rPr sz="900">
                <a:solidFill>
                  <a:srgbClr val="555555"/>
                </a:solidFill>
                <a:latin typeface="Arial"/>
              </a:rPr>
              <a:t>Салхи, хүйтэн, цас, зуд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92640" y="1280160"/>
            <a:ext cx="233172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800"/>
              <a:t>✅</a:t>
            </a:r>
          </a:p>
          <a:p>
            <a:pPr algn="ctr"/>
            <a:r>
              <a:rPr sz="1100" b="1">
                <a:solidFill>
                  <a:srgbClr val="1B5E20"/>
                </a:solidFill>
                <a:latin typeface="Arial"/>
              </a:rPr>
              <a:t>Өнөөдөр хийх 3 ажил</a:t>
            </a:r>
          </a:p>
          <a:p>
            <a:pPr algn="ctr"/>
            <a:r>
              <a:rPr sz="900">
                <a:solidFill>
                  <a:srgbClr val="555555"/>
                </a:solidFill>
                <a:latin typeface="Arial"/>
              </a:rPr>
              <a:t>Ус, түлш, эрүүл мэнд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20" y="3017520"/>
            <a:ext cx="233172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800"/>
              <a:t>🚚</a:t>
            </a:r>
          </a:p>
          <a:p>
            <a:pPr algn="ctr"/>
            <a:r>
              <a:rPr sz="1100" b="1">
                <a:solidFill>
                  <a:srgbClr val="1B5E20"/>
                </a:solidFill>
                <a:latin typeface="Arial"/>
              </a:rPr>
              <a:t>Нүүх / оторлох зөвлөгөө</a:t>
            </a:r>
          </a:p>
          <a:p>
            <a:pPr algn="ctr"/>
            <a:r>
              <a:rPr sz="900">
                <a:solidFill>
                  <a:srgbClr val="555555"/>
                </a:solidFill>
                <a:latin typeface="Arial"/>
              </a:rPr>
              <a:t>Өвс хүрэхгүй бол хаашаа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9480" y="3017520"/>
            <a:ext cx="233172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800"/>
              <a:t>🩺</a:t>
            </a:r>
          </a:p>
          <a:p>
            <a:pPr algn="ctr"/>
            <a:r>
              <a:rPr sz="1100" b="1">
                <a:solidFill>
                  <a:srgbClr val="1B5E20"/>
                </a:solidFill>
                <a:latin typeface="Arial"/>
              </a:rPr>
              <a:t>Малын эрүүл мэндийн дохио</a:t>
            </a:r>
          </a:p>
          <a:p>
            <a:pPr algn="ctr"/>
            <a:r>
              <a:rPr sz="900">
                <a:solidFill>
                  <a:srgbClr val="555555"/>
                </a:solidFill>
                <a:latin typeface="Arial"/>
              </a:rPr>
              <a:t>Шүлхий, таршаа г.м.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92640" y="3017520"/>
            <a:ext cx="233172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800"/>
              <a:t>📢</a:t>
            </a:r>
          </a:p>
          <a:p>
            <a:pPr algn="ctr"/>
            <a:r>
              <a:rPr sz="1100" b="1">
                <a:solidFill>
                  <a:srgbClr val="1B5E20"/>
                </a:solidFill>
                <a:latin typeface="Arial"/>
              </a:rPr>
              <a:t>Сумын шинэ мэдэгдэл</a:t>
            </a:r>
          </a:p>
          <a:p>
            <a:pPr algn="ctr"/>
            <a:r>
              <a:rPr sz="900">
                <a:solidFill>
                  <a:srgbClr val="555555"/>
                </a:solidFill>
                <a:latin typeface="Arial"/>
              </a:rPr>
              <a:t>Багийн дарга юу мэдэгдсэн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46320" y="4754880"/>
            <a:ext cx="233172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800"/>
              <a:t>🧓</a:t>
            </a:r>
          </a:p>
          <a:p>
            <a:pPr algn="ctr"/>
            <a:r>
              <a:rPr sz="1100" b="1">
                <a:solidFill>
                  <a:srgbClr val="1B5E20"/>
                </a:solidFill>
                <a:latin typeface="Arial"/>
              </a:rPr>
              <a:t>Ахмадын 1 зөвлөгөө</a:t>
            </a:r>
          </a:p>
          <a:p>
            <a:pPr algn="ctr"/>
            <a:r>
              <a:rPr sz="900">
                <a:solidFill>
                  <a:srgbClr val="555555"/>
                </a:solidFill>
                <a:latin typeface="Arial"/>
              </a:rPr>
              <a:t>Өдөрт нэг сургаалт үг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69480" y="4754880"/>
            <a:ext cx="233172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800"/>
              <a:t>💰</a:t>
            </a:r>
          </a:p>
          <a:p>
            <a:pPr algn="ctr"/>
            <a:r>
              <a:rPr sz="1100" b="1">
                <a:solidFill>
                  <a:srgbClr val="1B5E20"/>
                </a:solidFill>
                <a:latin typeface="Arial"/>
              </a:rPr>
              <a:t>Зах зээлийн товч үнэ</a:t>
            </a:r>
          </a:p>
          <a:p>
            <a:pPr algn="ctr"/>
            <a:r>
              <a:rPr sz="900">
                <a:solidFill>
                  <a:srgbClr val="555555"/>
                </a:solidFill>
                <a:latin typeface="Arial"/>
              </a:rPr>
              <a:t>Өвс, мах, ноос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92640" y="4754880"/>
            <a:ext cx="233172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800"/>
              <a:t>📦</a:t>
            </a:r>
          </a:p>
          <a:p>
            <a:pPr algn="ctr"/>
            <a:r>
              <a:rPr sz="1100" b="1">
                <a:solidFill>
                  <a:srgbClr val="1B5E20"/>
                </a:solidFill>
                <a:latin typeface="Arial"/>
              </a:rPr>
              <a:t>Ойролцоох хэрэгтэй зар</a:t>
            </a:r>
          </a:p>
          <a:p>
            <a:pPr algn="ctr"/>
            <a:r>
              <a:rPr sz="900">
                <a:solidFill>
                  <a:srgbClr val="555555"/>
                </a:solidFill>
                <a:latin typeface="Arial"/>
              </a:rPr>
              <a:t>Унаа, ажиллах хүн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3.4. МАЛ БҮРТГЭЛ  5 төрлийн мал — адуу, үхэр, хонь, ямаа, тэмээ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FFF8E1"/>
                </a:solidFill>
                <a:latin typeface="Arial"/>
              </a:rPr>
              <a:t>Аппын хуудас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51471" y="1162889"/>
            <a:ext cx="3166337" cy="5446622"/>
          </a:xfrm>
          <a:prstGeom prst="roundRect">
            <a:avLst>
              <a:gd name="adj" fmla="val 5000"/>
            </a:avLst>
          </a:prstGeom>
          <a:solidFill>
            <a:srgbClr val="212121"/>
          </a:solidFill>
          <a:ln w="254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4-livest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8742" y="1280160"/>
            <a:ext cx="2931795" cy="5212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0" y="1280160"/>
            <a:ext cx="6400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B5E20"/>
                </a:solidFill>
                <a:latin typeface="Arial"/>
              </a:rPr>
              <a:t>📝 Тайлбар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173736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212121"/>
                </a:solidFill>
                <a:latin typeface="Arial"/>
              </a:rPr>
              <a:t>• 5 төрлийн малыг тус тусад нь бүртгэнэ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12121"/>
                </a:solidFill>
                <a:latin typeface="Arial"/>
              </a:rPr>
              <a:t>• Нэмэх, хасах товч энгийн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12121"/>
                </a:solidFill>
                <a:latin typeface="Arial"/>
              </a:rPr>
              <a:t>• Төл гарах, хорогдох, худалдсан, авсан — бичнэ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12121"/>
                </a:solidFill>
                <a:latin typeface="Arial"/>
              </a:rPr>
              <a:t>• Жилийн эцсийн тооллогод бэлэн болно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4572000"/>
            <a:ext cx="6400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B800"/>
                </a:solidFill>
                <a:latin typeface="Arial"/>
              </a:rPr>
              <a:t>✅ Давуу тал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5029200"/>
            <a:ext cx="6400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Arial"/>
              </a:rPr>
              <a:t>• «Хэдэн толгой малтай вэ?» гэхэд 3 секундэд хариулна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Arial"/>
              </a:rPr>
              <a:t>• Толгойдоо барих, хуучин дэвтэрт хайх шаардлагагүй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3.5. БЭЛЧЭЭР, ГАЗРЫН ЗУРАГ  4 улирлын бууц + одоогийн байршил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FFF8E1"/>
                </a:solidFill>
                <a:latin typeface="Arial"/>
              </a:rPr>
              <a:t>Аппын хуудас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51471" y="1162889"/>
            <a:ext cx="3166337" cy="5446622"/>
          </a:xfrm>
          <a:prstGeom prst="roundRect">
            <a:avLst>
              <a:gd name="adj" fmla="val 5000"/>
            </a:avLst>
          </a:prstGeom>
          <a:solidFill>
            <a:srgbClr val="212121"/>
          </a:solidFill>
          <a:ln w="254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-pas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8742" y="1280160"/>
            <a:ext cx="2931795" cy="5212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0" y="1280160"/>
            <a:ext cx="6400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B5E20"/>
                </a:solidFill>
                <a:latin typeface="Arial"/>
              </a:rPr>
              <a:t>📝 Тайлбар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173736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212121"/>
                </a:solidFill>
                <a:latin typeface="Arial"/>
              </a:rPr>
              <a:t>• 4 улирлын өөрийн бууцыг тэмдэглэнэ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12121"/>
                </a:solidFill>
                <a:latin typeface="Arial"/>
              </a:rPr>
              <a:t>• Одоо мал хаана байгаа газрын зурагт цэгээр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12121"/>
                </a:solidFill>
                <a:latin typeface="Arial"/>
              </a:rPr>
              <a:t>• Оторлох боломжтой газар нэмэх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4572000"/>
            <a:ext cx="6400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B800"/>
                </a:solidFill>
                <a:latin typeface="Arial"/>
              </a:rPr>
              <a:t>✅ Давуу тал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5029200"/>
            <a:ext cx="6400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Arial"/>
              </a:rPr>
              <a:t>• Яг газрыг бусдад харуулахгүй — зөвхөн «энэ багт» түвшинд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Arial"/>
              </a:rPr>
              <a:t>• Хувийн нууц хадгалагдана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3.6. ЗӨВЛӨГӨӨ — УХААЛАГ ТУСЛАХ  Малчны асуултанд богино, тодорхой хариулт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FFF8E1"/>
                </a:solidFill>
                <a:latin typeface="Arial"/>
              </a:rPr>
              <a:t>Аппын хуудас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51471" y="1162889"/>
            <a:ext cx="3166337" cy="5446622"/>
          </a:xfrm>
          <a:prstGeom prst="roundRect">
            <a:avLst>
              <a:gd name="adj" fmla="val 5000"/>
            </a:avLst>
          </a:prstGeom>
          <a:solidFill>
            <a:srgbClr val="212121"/>
          </a:solidFill>
          <a:ln w="254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-advis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8742" y="1280160"/>
            <a:ext cx="2931795" cy="5212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0" y="1280160"/>
            <a:ext cx="6400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B5E20"/>
                </a:solidFill>
                <a:latin typeface="Arial"/>
              </a:rPr>
              <a:t>📝 Тайлбар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173736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212121"/>
                </a:solidFill>
                <a:latin typeface="Arial"/>
              </a:rPr>
              <a:t>• «Хонь толгой эргэвэл яах вэ?»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12121"/>
                </a:solidFill>
                <a:latin typeface="Arial"/>
              </a:rPr>
              <a:t>• «Зуд болох гэж байна, хаашаа нүүх вэ?»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12121"/>
                </a:solidFill>
                <a:latin typeface="Arial"/>
              </a:rPr>
              <a:t>• Хариу: одоо юу хийх → яагаад → 3-7 алхам → анхаарах → эрсдэл → хэнд мэдэгдэх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4572000"/>
            <a:ext cx="6400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B800"/>
                </a:solidFill>
                <a:latin typeface="Arial"/>
              </a:rPr>
              <a:t>✅ Давуу тал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5029200"/>
            <a:ext cx="6400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Arial"/>
              </a:rPr>
              <a:t>• Урт өгүүлэл биш — богино тодорхой алхмууд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Arial"/>
              </a:rPr>
              <a:t>• Малчинд шууд хэрэгцээтэй формат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3.7. АХМАДЫН УХААН  Ахмад малчдын дуу хоолой, видео, зураг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FFF8E1"/>
                </a:solidFill>
                <a:latin typeface="Arial"/>
              </a:rPr>
              <a:t>Аппын хуудас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51471" y="1162889"/>
            <a:ext cx="3166337" cy="5446622"/>
          </a:xfrm>
          <a:prstGeom prst="roundRect">
            <a:avLst>
              <a:gd name="adj" fmla="val 5000"/>
            </a:avLst>
          </a:prstGeom>
          <a:solidFill>
            <a:srgbClr val="212121"/>
          </a:solidFill>
          <a:ln w="254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7-e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8742" y="1280160"/>
            <a:ext cx="2931795" cy="5212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0" y="1280160"/>
            <a:ext cx="6400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B5E20"/>
                </a:solidFill>
                <a:latin typeface="Arial"/>
              </a:rPr>
              <a:t>📝 Тайлбар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173736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212121"/>
                </a:solidFill>
                <a:latin typeface="Arial"/>
              </a:rPr>
              <a:t>• Ахмадын дуу хоолой, видео, зураг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12121"/>
                </a:solidFill>
                <a:latin typeface="Arial"/>
              </a:rPr>
              <a:t>• «Зуны бэлчээр», «Тулга бариулах», «Чонын дайралтаас»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12121"/>
                </a:solidFill>
                <a:latin typeface="Arial"/>
              </a:rPr>
              <a:t>• Хөгшин хүмүүс өөрсдөө оруулна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4572000"/>
            <a:ext cx="6400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B800"/>
                </a:solidFill>
                <a:latin typeface="Arial"/>
              </a:rPr>
              <a:t>✅ Давуу тал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5029200"/>
            <a:ext cx="6400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Arial"/>
              </a:rPr>
              <a:t>• Хуучин ёс заншил, малын ухаан залуу үед дамжина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Arial"/>
              </a:rPr>
              <a:t>• Ахмадууд өөрсдөө хүндлэгдэж байгаагаа мэдэрнэ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3.8. АЛДСАН / ОЛДСОН МАЛ  2 минутад зарлах тусгай хуудас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FFF8E1"/>
                </a:solidFill>
                <a:latin typeface="Arial"/>
              </a:rPr>
              <a:t>Аппын хуудас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51471" y="1162889"/>
            <a:ext cx="3166337" cy="5446622"/>
          </a:xfrm>
          <a:prstGeom prst="roundRect">
            <a:avLst>
              <a:gd name="adj" fmla="val 5000"/>
            </a:avLst>
          </a:prstGeom>
          <a:solidFill>
            <a:srgbClr val="212121"/>
          </a:solidFill>
          <a:ln w="254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8-lost-f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8742" y="1280160"/>
            <a:ext cx="2931795" cy="5212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0" y="1280160"/>
            <a:ext cx="6400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B5E20"/>
                </a:solidFill>
                <a:latin typeface="Arial"/>
              </a:rPr>
              <a:t>📝 Тайлбар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173736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212121"/>
                </a:solidFill>
                <a:latin typeface="Arial"/>
              </a:rPr>
              <a:t>• АЛДСАН: зураг авах → им тамга бичих → багт мэдэгдэх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12121"/>
                </a:solidFill>
                <a:latin typeface="Arial"/>
              </a:rPr>
              <a:t>• ОЛДСОН: зураг авах → нутгийн зар → эзэнтэй холбогдох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4572000"/>
            <a:ext cx="6400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B800"/>
                </a:solidFill>
                <a:latin typeface="Arial"/>
              </a:rPr>
              <a:t>✅ Давуу тал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5029200"/>
            <a:ext cx="6400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Arial"/>
              </a:rPr>
              <a:t>• Урьд сум сум руу яриулж байсан зүйл одоо 2 минутад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Arial"/>
              </a:rPr>
              <a:t>• Хол хүртэлх айлуудад нэг дор хүрнэ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3.9. ЗАХ ЗЭЭЛ — ЗАР ЗАХИАЛГА  Малчны амьдралтай холбоотой зар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FFF8E1"/>
                </a:solidFill>
                <a:latin typeface="Arial"/>
              </a:rPr>
              <a:t>Аппын хуудас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51471" y="1162889"/>
            <a:ext cx="3166337" cy="5446622"/>
          </a:xfrm>
          <a:prstGeom prst="roundRect">
            <a:avLst>
              <a:gd name="adj" fmla="val 5000"/>
            </a:avLst>
          </a:prstGeom>
          <a:solidFill>
            <a:srgbClr val="212121"/>
          </a:solidFill>
          <a:ln w="254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9-mar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8742" y="1280160"/>
            <a:ext cx="2931795" cy="5212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0" y="1280160"/>
            <a:ext cx="6400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B5E20"/>
                </a:solidFill>
                <a:latin typeface="Arial"/>
              </a:rPr>
              <a:t>📝 Тайлбар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173736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212121"/>
                </a:solidFill>
                <a:latin typeface="Arial"/>
              </a:rPr>
              <a:t>• Өвс тэжээл, хужир шорлог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12121"/>
                </a:solidFill>
                <a:latin typeface="Arial"/>
              </a:rPr>
              <a:t>• Тээвэр, унаа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12121"/>
                </a:solidFill>
                <a:latin typeface="Arial"/>
              </a:rPr>
              <a:t>• Мал зарах, авах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12121"/>
                </a:solidFill>
                <a:latin typeface="Arial"/>
              </a:rPr>
              <a:t>• Ажиллах хүн, түрээс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12121"/>
                </a:solidFill>
                <a:latin typeface="Arial"/>
              </a:rPr>
              <a:t>• Хоршооны бараа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4572000"/>
            <a:ext cx="6400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B800"/>
                </a:solidFill>
                <a:latin typeface="Arial"/>
              </a:rPr>
              <a:t>✅ Давуу тал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5029200"/>
            <a:ext cx="6400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Arial"/>
              </a:rPr>
              <a:t>• Хол явалгүй сум, аймгийн мэдээлэл харна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Arial"/>
              </a:rPr>
              <a:t>• Үнэ ил тод, дундын зуучлагч хэрэггүй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3.10. МАЛ ЭМЧТЭЙ ХОЛБОГДОХ  Цаг захиалах, асуулт илгээх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FFF8E1"/>
                </a:solidFill>
                <a:latin typeface="Arial"/>
              </a:rPr>
              <a:t>Аппын хуудас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51471" y="1162889"/>
            <a:ext cx="3166337" cy="5446622"/>
          </a:xfrm>
          <a:prstGeom prst="roundRect">
            <a:avLst>
              <a:gd name="adj" fmla="val 5000"/>
            </a:avLst>
          </a:prstGeom>
          <a:solidFill>
            <a:srgbClr val="212121"/>
          </a:solidFill>
          <a:ln w="254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0-v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8742" y="1280160"/>
            <a:ext cx="2931795" cy="5212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0" y="1280160"/>
            <a:ext cx="6400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B5E20"/>
                </a:solidFill>
                <a:latin typeface="Arial"/>
              </a:rPr>
              <a:t>📝 Тайлбар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173736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212121"/>
                </a:solidFill>
                <a:latin typeface="Arial"/>
              </a:rPr>
              <a:t>• Сумын мал эмчийн утас, хаяг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12121"/>
                </a:solidFill>
                <a:latin typeface="Arial"/>
              </a:rPr>
              <a:t>• Цаг захиалах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12121"/>
                </a:solidFill>
                <a:latin typeface="Arial"/>
              </a:rPr>
              <a:t>• Малын зураг илгээх, асуулт бичих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12121"/>
                </a:solidFill>
                <a:latin typeface="Arial"/>
              </a:rPr>
              <a:t>• Эмийн зөвлөгөө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4572000"/>
            <a:ext cx="6400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B800"/>
                </a:solidFill>
                <a:latin typeface="Arial"/>
              </a:rPr>
              <a:t>✅ Давуу тал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5029200"/>
            <a:ext cx="6400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Arial"/>
              </a:rPr>
              <a:t>• «Эмч сум руу очно уу?» гэж хүлээх биш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Arial"/>
              </a:rPr>
              <a:t>• Апп дотроос шууд ярина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3.11. СУМ, БАГИЙН МЭДЭГДЭЛ  Зарлал, тарилгын хуваарь, хурлын мэдэгдэл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FFF8E1"/>
                </a:solidFill>
                <a:latin typeface="Arial"/>
              </a:rPr>
              <a:t>Аппын хуудас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51471" y="1162889"/>
            <a:ext cx="3166337" cy="5446622"/>
          </a:xfrm>
          <a:prstGeom prst="roundRect">
            <a:avLst>
              <a:gd name="adj" fmla="val 5000"/>
            </a:avLst>
          </a:prstGeom>
          <a:solidFill>
            <a:srgbClr val="212121"/>
          </a:solidFill>
          <a:ln w="254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1-n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8742" y="1280160"/>
            <a:ext cx="2931795" cy="5212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0" y="1280160"/>
            <a:ext cx="6400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B5E20"/>
                </a:solidFill>
                <a:latin typeface="Arial"/>
              </a:rPr>
              <a:t>📝 Тайлбар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173736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212121"/>
                </a:solidFill>
                <a:latin typeface="Arial"/>
              </a:rPr>
              <a:t>• Сумын засаг даргын зарлал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12121"/>
                </a:solidFill>
                <a:latin typeface="Arial"/>
              </a:rPr>
              <a:t>• Багийн даргын мэдэгдэл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12121"/>
                </a:solidFill>
                <a:latin typeface="Arial"/>
              </a:rPr>
              <a:t>• Тооллого, тарилгын хуваарь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12121"/>
                </a:solidFill>
                <a:latin typeface="Arial"/>
              </a:rPr>
              <a:t>• Хурал, цуглааны мэдэгдэл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4572000"/>
            <a:ext cx="6400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B800"/>
                </a:solidFill>
                <a:latin typeface="Arial"/>
              </a:rPr>
              <a:t>✅ Давуу тал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5029200"/>
            <a:ext cx="6400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Arial"/>
              </a:rPr>
              <a:t>• «Сонссонгүй, мэдсэнгүй» гэх асуудал тэглэдэг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Arial"/>
              </a:rPr>
              <a:t>• Хэн уншсан, хэн уншаагүй харагдана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3.12. ӨРХ, САНХҮҮ  Орлого зарлага, өрхийн гишүүд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FFF8E1"/>
                </a:solidFill>
                <a:latin typeface="Arial"/>
              </a:rPr>
              <a:t>Аппын хуудас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51471" y="1162889"/>
            <a:ext cx="3166337" cy="5446622"/>
          </a:xfrm>
          <a:prstGeom prst="roundRect">
            <a:avLst>
              <a:gd name="adj" fmla="val 5000"/>
            </a:avLst>
          </a:prstGeom>
          <a:solidFill>
            <a:srgbClr val="212121"/>
          </a:solidFill>
          <a:ln w="254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2-househ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8742" y="1280160"/>
            <a:ext cx="2931795" cy="5212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0" y="1280160"/>
            <a:ext cx="6400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B5E20"/>
                </a:solidFill>
                <a:latin typeface="Arial"/>
              </a:rPr>
              <a:t>📝 Тайлбар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173736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212121"/>
                </a:solidFill>
                <a:latin typeface="Arial"/>
              </a:rPr>
              <a:t>• Өрхийн гишүүд (эхнэр, хүүхэд, хадам)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12121"/>
                </a:solidFill>
                <a:latin typeface="Arial"/>
              </a:rPr>
              <a:t>• Орлого, зарлагын богино тэмдэглэл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12121"/>
                </a:solidFill>
                <a:latin typeface="Arial"/>
              </a:rPr>
              <a:t>• ЭМД, НДШ-ийн мэдээлэл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12121"/>
                </a:solidFill>
                <a:latin typeface="Arial"/>
              </a:rPr>
              <a:t>• Хүүхдийн сургуулийн дэмжлэг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4572000"/>
            <a:ext cx="6400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B800"/>
                </a:solidFill>
                <a:latin typeface="Arial"/>
              </a:rPr>
              <a:t>✅ Давуу тал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5029200"/>
            <a:ext cx="6400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Arial"/>
              </a:rPr>
              <a:t>• Орлого зарлагаа толгойдоо барилгүй харна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Arial"/>
              </a:rPr>
              <a:t>• Жилийн тооцоо хийхэд хялбар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3.13  ПРОФАЙЛ, БАГЦ, ТӨЛБӨР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FFF8E1"/>
                </a:solidFill>
                <a:latin typeface="Arial"/>
              </a:rPr>
              <a:t>5 багц — үнэгүйгээр эхэлж болно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2194560" cy="32004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2194560" cy="6400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ҮНЭГҮЙ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555555"/>
                </a:solidFill>
                <a:latin typeface="Arial"/>
              </a:rPr>
              <a:t>Хэн авах:</a:t>
            </a:r>
          </a:p>
          <a:p>
            <a:pPr algn="ctr"/>
            <a:r>
              <a:rPr sz="1300" b="1">
                <a:solidFill>
                  <a:srgbClr val="212121"/>
                </a:solidFill>
                <a:latin typeface="Arial"/>
              </a:rPr>
              <a:t>Хэн ч</a:t>
            </a:r>
          </a:p>
          <a:p>
            <a:pPr algn="ctr">
              <a:spcBef>
                <a:spcPts val="800"/>
              </a:spcBef>
            </a:pPr>
            <a:r>
              <a:rPr sz="1100">
                <a:solidFill>
                  <a:srgbClr val="555555"/>
                </a:solidFill>
                <a:latin typeface="Arial"/>
              </a:rPr>
              <a:t>
Юу багтсан:</a:t>
            </a:r>
          </a:p>
          <a:p>
            <a:pPr algn="ctr"/>
            <a:r>
              <a:rPr sz="1200">
                <a:solidFill>
                  <a:srgbClr val="212121"/>
                </a:solidFill>
                <a:latin typeface="Arial"/>
              </a:rPr>
              <a:t>Үндсэн боломжууд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360" y="1371600"/>
            <a:ext cx="2194560" cy="32004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80360" y="1371600"/>
            <a:ext cx="2194560" cy="64008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ПРЕМИУМ МАЛЧИН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214884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555555"/>
                </a:solidFill>
                <a:latin typeface="Arial"/>
              </a:rPr>
              <a:t>Хэн авах:</a:t>
            </a:r>
          </a:p>
          <a:p>
            <a:pPr algn="ctr"/>
            <a:r>
              <a:rPr sz="1300" b="1">
                <a:solidFill>
                  <a:srgbClr val="212121"/>
                </a:solidFill>
                <a:latin typeface="Arial"/>
              </a:rPr>
              <a:t>Малчин өөрөө</a:t>
            </a:r>
          </a:p>
          <a:p>
            <a:pPr algn="ctr">
              <a:spcBef>
                <a:spcPts val="800"/>
              </a:spcBef>
            </a:pPr>
            <a:r>
              <a:rPr sz="1100">
                <a:solidFill>
                  <a:srgbClr val="555555"/>
                </a:solidFill>
                <a:latin typeface="Arial"/>
              </a:rPr>
              <a:t>
Юу багтсан:</a:t>
            </a:r>
          </a:p>
          <a:p>
            <a:pPr algn="ctr"/>
            <a:r>
              <a:rPr sz="1200">
                <a:solidFill>
                  <a:srgbClr val="212121"/>
                </a:solidFill>
                <a:latin typeface="Arial"/>
              </a:rPr>
              <a:t>Илүү гүн зөвлөгөө,
эрсдэлийн анхааруулга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12080" y="1371600"/>
            <a:ext cx="2194560" cy="32004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12080" y="1371600"/>
            <a:ext cx="2194560" cy="64008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ХОРШООНЫ БАГЦ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214884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555555"/>
                </a:solidFill>
                <a:latin typeface="Arial"/>
              </a:rPr>
              <a:t>Хэн авах:</a:t>
            </a:r>
          </a:p>
          <a:p>
            <a:pPr algn="ctr"/>
            <a:r>
              <a:rPr sz="1300" b="1">
                <a:solidFill>
                  <a:srgbClr val="212121"/>
                </a:solidFill>
                <a:latin typeface="Arial"/>
              </a:rPr>
              <a:t>Хоршоо</a:t>
            </a:r>
          </a:p>
          <a:p>
            <a:pPr algn="ctr">
              <a:spcBef>
                <a:spcPts val="800"/>
              </a:spcBef>
            </a:pPr>
            <a:r>
              <a:rPr sz="1100">
                <a:solidFill>
                  <a:srgbClr val="555555"/>
                </a:solidFill>
                <a:latin typeface="Arial"/>
              </a:rPr>
              <a:t>
Юу багтсан:</a:t>
            </a:r>
          </a:p>
          <a:p>
            <a:pPr algn="ctr"/>
            <a:r>
              <a:rPr sz="1200">
                <a:solidFill>
                  <a:srgbClr val="212121"/>
                </a:solidFill>
                <a:latin typeface="Arial"/>
              </a:rPr>
              <a:t>Олон гишүүн нэгтгэх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43800" y="1371600"/>
            <a:ext cx="2194560" cy="32004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43800" y="1371600"/>
            <a:ext cx="2194560" cy="64008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СУМЫН БАГЦ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214884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555555"/>
                </a:solidFill>
                <a:latin typeface="Arial"/>
              </a:rPr>
              <a:t>Хэн авах:</a:t>
            </a:r>
          </a:p>
          <a:p>
            <a:pPr algn="ctr"/>
            <a:r>
              <a:rPr sz="1300" b="1">
                <a:solidFill>
                  <a:srgbClr val="212121"/>
                </a:solidFill>
                <a:latin typeface="Arial"/>
              </a:rPr>
              <a:t>Сумын засаг</a:t>
            </a:r>
          </a:p>
          <a:p>
            <a:pPr algn="ctr">
              <a:spcBef>
                <a:spcPts val="800"/>
              </a:spcBef>
            </a:pPr>
            <a:r>
              <a:rPr sz="1100">
                <a:solidFill>
                  <a:srgbClr val="555555"/>
                </a:solidFill>
                <a:latin typeface="Arial"/>
              </a:rPr>
              <a:t>
Юу багтсан:</a:t>
            </a:r>
          </a:p>
          <a:p>
            <a:pPr algn="ctr"/>
            <a:r>
              <a:rPr sz="1200">
                <a:solidFill>
                  <a:srgbClr val="212121"/>
                </a:solidFill>
                <a:latin typeface="Arial"/>
              </a:rPr>
              <a:t>Бүх малчдыг харах
самбар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875520" y="1371600"/>
            <a:ext cx="2194560" cy="32004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875520" y="1371600"/>
            <a:ext cx="2194560" cy="64008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ҮЙЛЧИЛГЭЭ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214884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555555"/>
                </a:solidFill>
                <a:latin typeface="Arial"/>
              </a:rPr>
              <a:t>Хэн авах:</a:t>
            </a:r>
          </a:p>
          <a:p>
            <a:pPr algn="ctr"/>
            <a:r>
              <a:rPr sz="1300" b="1">
                <a:solidFill>
                  <a:srgbClr val="212121"/>
                </a:solidFill>
                <a:latin typeface="Arial"/>
              </a:rPr>
              <a:t>Мал эмч, тээвэр</a:t>
            </a:r>
          </a:p>
          <a:p>
            <a:pPr algn="ctr">
              <a:spcBef>
                <a:spcPts val="800"/>
              </a:spcBef>
            </a:pPr>
            <a:r>
              <a:rPr sz="1100">
                <a:solidFill>
                  <a:srgbClr val="555555"/>
                </a:solidFill>
                <a:latin typeface="Arial"/>
              </a:rPr>
              <a:t>
Юу багтсан:</a:t>
            </a:r>
          </a:p>
          <a:p>
            <a:pPr algn="ctr"/>
            <a:r>
              <a:rPr sz="1200">
                <a:solidFill>
                  <a:srgbClr val="212121"/>
                </a:solidFill>
                <a:latin typeface="Arial"/>
              </a:rPr>
              <a:t>Зар, цаг захиалга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937760"/>
            <a:ext cx="1124712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B5E20"/>
                </a:solidFill>
                <a:latin typeface="Arial"/>
              </a:rPr>
              <a:t>💡 Үнэгүй хувилбараар л өдөр тутмын ажил гүйцэт бүтнэ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4. БАГИЙН ДАРГЫН ТУСГАЙ САМБАР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FFF8E1"/>
                </a:solidFill>
                <a:latin typeface="Arial"/>
              </a:rPr>
              <a:t>Зөвхөн багийн даргад нээгдэх боломжууд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60031" y="1162889"/>
            <a:ext cx="3166337" cy="5446622"/>
          </a:xfrm>
          <a:prstGeom prst="roundRect">
            <a:avLst>
              <a:gd name="adj" fmla="val 5000"/>
            </a:avLst>
          </a:prstGeom>
          <a:solidFill>
            <a:srgbClr val="212121"/>
          </a:solidFill>
          <a:ln w="254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4-bag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7302" y="1280160"/>
            <a:ext cx="2931795" cy="5212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303520" y="1371600"/>
            <a:ext cx="6583680" cy="1188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/>
            <a:r>
              <a:rPr sz="1600" b="1">
                <a:solidFill>
                  <a:srgbClr val="1B5E20"/>
                </a:solidFill>
                <a:latin typeface="Arial"/>
              </a:rPr>
              <a:t>🏠  Бүх өрхийг нэг дэлгэцэн дээр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212121"/>
                </a:solidFill>
                <a:latin typeface="Arial"/>
              </a:rPr>
              <a:t>Хэдэн өрх, хэчнээн мал. Хэн нь өвөлжөө руу нүүсэн, хэн нь оторт явсан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0" y="2697480"/>
            <a:ext cx="6583680" cy="1188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/>
            <a:r>
              <a:rPr sz="1600" b="1">
                <a:solidFill>
                  <a:srgbClr val="1B5E20"/>
                </a:solidFill>
                <a:latin typeface="Arial"/>
              </a:rPr>
              <a:t>📢  Нэг товчоор бүгдэд мэдэгдэл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212121"/>
                </a:solidFill>
                <a:latin typeface="Arial"/>
              </a:rPr>
              <a:t>Гарчиг, агуулга бичээд илгээх. Хэн уншсан, хэн уншаагүй харагдана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0" y="4023360"/>
            <a:ext cx="6583680" cy="1188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/>
            <a:r>
              <a:rPr sz="1600" b="1">
                <a:solidFill>
                  <a:srgbClr val="1B5E20"/>
                </a:solidFill>
                <a:latin typeface="Arial"/>
              </a:rPr>
              <a:t>⚠️  Эрсдэлтэй өрхүүд тодрох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212121"/>
                </a:solidFill>
                <a:latin typeface="Arial"/>
              </a:rPr>
              <a:t>Цастай нутаг, өвс хүрэхгүй, хол оторт яваа. Шууд утсаар холбогдох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0" y="5349240"/>
            <a:ext cx="6583680" cy="1188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/>
            <a:r>
              <a:rPr sz="1600" b="1">
                <a:solidFill>
                  <a:srgbClr val="1B5E20"/>
                </a:solidFill>
                <a:latin typeface="Arial"/>
              </a:rPr>
              <a:t>📊  Тайлан өөрөө гарна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212121"/>
                </a:solidFill>
                <a:latin typeface="Arial"/>
              </a:rPr>
              <a:t>Сар, улирлын тайлан. Сумын засаг даргад илгээх товчтой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5. ДАВУУ ТАЛУУД (ХУРААНГУЙ)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FFF8E1"/>
                </a:solidFill>
                <a:latin typeface="Arial"/>
              </a:rPr>
              <a:t>Малчин, багийн дарга, сумын удирдлага — гурвуулангаа хожино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3749039" cy="64008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👨‍🌾  МАЛЧДАД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3749039" cy="4389120"/>
          </a:xfrm>
          <a:prstGeom prst="rect">
            <a:avLst/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spcAft>
                <a:spcPts val="800"/>
              </a:spcAft>
            </a:pPr>
            <a:r>
              <a:rPr sz="1300">
                <a:solidFill>
                  <a:srgbClr val="212121"/>
                </a:solidFill>
                <a:latin typeface="Arial"/>
              </a:rPr>
              <a:t>✓ Бүх мэдээллээ нэг газраас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12121"/>
                </a:solidFill>
                <a:latin typeface="Arial"/>
              </a:rPr>
              <a:t>✓ Сүлжээгүй ч ажиллана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12121"/>
                </a:solidFill>
                <a:latin typeface="Arial"/>
              </a:rPr>
              <a:t>✓ Хол явалгүй өвсний үнэ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12121"/>
                </a:solidFill>
                <a:latin typeface="Arial"/>
              </a:rPr>
              <a:t>✓ Хөгшин ч ойлгох товч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12121"/>
                </a:solidFill>
                <a:latin typeface="Arial"/>
              </a:rPr>
              <a:t>✓ Алдсан мал 2 минутад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12121"/>
                </a:solidFill>
                <a:latin typeface="Arial"/>
              </a:rPr>
              <a:t>✓ Малын тоо толгойдоо хадгалгүй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19" y="1371600"/>
            <a:ext cx="3749039" cy="64008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👨‍💼  БАГИЙН ДАРГАД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19" y="2011680"/>
            <a:ext cx="3749039" cy="43891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spcAft>
                <a:spcPts val="800"/>
              </a:spcAft>
            </a:pPr>
            <a:r>
              <a:rPr sz="1300">
                <a:solidFill>
                  <a:srgbClr val="212121"/>
                </a:solidFill>
                <a:latin typeface="Arial"/>
              </a:rPr>
              <a:t>✓ Бүх өрхөө нэг самбараас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12121"/>
                </a:solidFill>
                <a:latin typeface="Arial"/>
              </a:rPr>
              <a:t>✓ Нэг товчоор мэдэгдэл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12121"/>
                </a:solidFill>
                <a:latin typeface="Arial"/>
              </a:rPr>
              <a:t>✓ Эрсдэлтэй өрхөө хурдан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12121"/>
                </a:solidFill>
                <a:latin typeface="Arial"/>
              </a:rPr>
              <a:t>✓ Тайлан цаг алдалгүй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38" y="1371600"/>
            <a:ext cx="3749039" cy="6400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🏛  СУМЫН УДИРДЛАГАД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21038" y="2011680"/>
            <a:ext cx="3749039" cy="4389120"/>
          </a:xfrm>
          <a:prstGeom prst="rect">
            <a:avLst/>
          </a:prstGeom>
          <a:solidFill>
            <a:srgbClr val="FFFFFF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spcAft>
                <a:spcPts val="800"/>
              </a:spcAft>
            </a:pPr>
            <a:r>
              <a:rPr sz="1300">
                <a:solidFill>
                  <a:srgbClr val="212121"/>
                </a:solidFill>
                <a:latin typeface="Arial"/>
              </a:rPr>
              <a:t>✓ Бүх багийн мэдээлэл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12121"/>
                </a:solidFill>
                <a:latin typeface="Arial"/>
              </a:rPr>
              <a:t>✓ Өрхүүдтэй шууд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12121"/>
                </a:solidFill>
                <a:latin typeface="Arial"/>
              </a:rPr>
              <a:t>✓ Тайлан, статистик гарт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6. ЯАГААД ЗААВАЛ ЭНЭ АППЫГ АШИГЛАХ ВЭ?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FFF8E1"/>
                </a:solidFill>
                <a:latin typeface="Arial"/>
              </a:rPr>
              <a:t>7 чухал шалтгаан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5669280" cy="1280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94360" y="1554480"/>
            <a:ext cx="731520" cy="73152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417320"/>
            <a:ext cx="457200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B5E20"/>
                </a:solidFill>
                <a:latin typeface="Arial"/>
              </a:rPr>
              <a:t>Цаг хэмнэнэ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920240"/>
            <a:ext cx="45720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Arial"/>
              </a:rPr>
              <a:t>Утсаар яриа, дэвтэр бичих, сум руу явах хугацаа богиносно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280160"/>
            <a:ext cx="5669280" cy="1280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1554480"/>
            <a:ext cx="731520" cy="73152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417320"/>
            <a:ext cx="457200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B5E20"/>
                </a:solidFill>
                <a:latin typeface="Arial"/>
              </a:rPr>
              <a:t>Алдагдал багасна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920240"/>
            <a:ext cx="45720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Arial"/>
              </a:rPr>
              <a:t>Цаг агаар, өвчний анхааруулгыг урьдчилан мэднэ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651760"/>
            <a:ext cx="5669280" cy="1280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94360" y="2926080"/>
            <a:ext cx="731520" cy="73152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2788920"/>
            <a:ext cx="457200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B5E20"/>
                </a:solidFill>
                <a:latin typeface="Arial"/>
              </a:rPr>
              <a:t>Үнэ ил тод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3291840"/>
            <a:ext cx="45720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Arial"/>
              </a:rPr>
              <a:t>Дундын зуучлагч «бага үнэлэх» эрсдэл багасна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651760"/>
            <a:ext cx="5669280" cy="1280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2926080"/>
            <a:ext cx="731520" cy="73152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2788920"/>
            <a:ext cx="457200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B5E20"/>
                </a:solidFill>
                <a:latin typeface="Arial"/>
              </a:rPr>
              <a:t>Хүн бүр ижил мэдээлэл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3291840"/>
            <a:ext cx="45720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Arial"/>
              </a:rPr>
              <a:t>Багийн дарга, малчин, сумын дарга нэг тоог хардаг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023360"/>
            <a:ext cx="5669280" cy="1280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94360" y="4297680"/>
            <a:ext cx="731520" cy="73152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160520"/>
            <a:ext cx="457200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B5E20"/>
                </a:solidFill>
                <a:latin typeface="Arial"/>
              </a:rPr>
              <a:t>Хөгшин залуу хоёр ойлгоно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4663440"/>
            <a:ext cx="45720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Arial"/>
              </a:rPr>
              <a:t>Хэцүү технологи биш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4023360"/>
            <a:ext cx="5669280" cy="1280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731520" cy="73152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4160520"/>
            <a:ext cx="457200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B5E20"/>
                </a:solidFill>
                <a:latin typeface="Arial"/>
              </a:rPr>
              <a:t>Хувийн нууц хадгалагдана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4663440"/>
            <a:ext cx="45720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Arial"/>
              </a:rPr>
              <a:t>Яг координат бусдад харагдахгүй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394960"/>
            <a:ext cx="5669280" cy="1280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94360" y="5669280"/>
            <a:ext cx="731520" cy="73152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5532120"/>
            <a:ext cx="457200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B5E20"/>
                </a:solidFill>
                <a:latin typeface="Arial"/>
              </a:rPr>
              <a:t>Үнэгүй эхэлж болно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6035040"/>
            <a:ext cx="45720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Arial"/>
              </a:rPr>
              <a:t>0 төгрөгөөр өдөр тутмын ажил бүтнэ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7. БАГТАА ЯАЖ НЭВТРҮҮЛЭХ ВЭ?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FFF8E1"/>
                </a:solidFill>
                <a:latin typeface="Arial"/>
              </a:rPr>
              <a:t>Багийн дарга та өөрөө хэрхэн эхлүүлэх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371600"/>
            <a:ext cx="2286000" cy="4572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1554480"/>
            <a:ext cx="1097280" cy="1097280"/>
          </a:xfrm>
          <a:prstGeom prst="ellipse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834640"/>
            <a:ext cx="210312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1">
                <a:solidFill>
                  <a:srgbClr val="1B5E20"/>
                </a:solidFill>
                <a:latin typeface="Arial"/>
              </a:rPr>
              <a:t>БАГИЙН ХУРАЛ ДЭЭР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840480"/>
            <a:ext cx="2011680" cy="182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212121"/>
                </a:solidFill>
                <a:latin typeface="Arial"/>
              </a:rPr>
              <a:t>Нэг утсаар үзүүлж тайлбарлах. Бүгд харж, асуухаар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1371600"/>
            <a:ext cx="2286000" cy="4572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383280" y="1554480"/>
            <a:ext cx="1097280" cy="1097280"/>
          </a:xfrm>
          <a:prstGeom prst="ellipse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2834640"/>
            <a:ext cx="210312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1">
                <a:solidFill>
                  <a:srgbClr val="1B5E20"/>
                </a:solidFill>
                <a:latin typeface="Arial"/>
              </a:rPr>
              <a:t>ИДЭВХТЭЙ АЙЛУУДААР ЭХЭЛ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840480"/>
            <a:ext cx="2011680" cy="182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212121"/>
                </a:solidFill>
                <a:latin typeface="Arial"/>
              </a:rPr>
              <a:t>3-5 идэвхтэй малчин эхлээд туршиж үзнэ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12080" y="1371600"/>
            <a:ext cx="2286000" cy="4572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806440" y="1554480"/>
            <a:ext cx="1097280" cy="1097280"/>
          </a:xfrm>
          <a:prstGeom prst="ellipse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834640"/>
            <a:ext cx="210312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1">
                <a:solidFill>
                  <a:srgbClr val="1B5E20"/>
                </a:solidFill>
                <a:latin typeface="Arial"/>
              </a:rPr>
              <a:t>АМЖИЛТЫГ ҮЗҮҮЛ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3840480"/>
            <a:ext cx="2011680" cy="182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212121"/>
                </a:solidFill>
                <a:latin typeface="Arial"/>
              </a:rPr>
              <a:t>Жишээ нь алдсан мал хурдан олдсон туршлагыг бусдад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35240" y="1371600"/>
            <a:ext cx="2286000" cy="4572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29600" y="1554480"/>
            <a:ext cx="1097280" cy="1097280"/>
          </a:xfrm>
          <a:prstGeom prst="ellipse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80" y="2834640"/>
            <a:ext cx="210312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1">
                <a:solidFill>
                  <a:srgbClr val="1B5E20"/>
                </a:solidFill>
                <a:latin typeface="Arial"/>
              </a:rPr>
              <a:t>ХУУЧИН АРГЫГ ҮЛДЭЭ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3840480"/>
            <a:ext cx="2011680" cy="182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212121"/>
                </a:solidFill>
                <a:latin typeface="Arial"/>
              </a:rPr>
              <a:t>Хуучин арга барилаа хэвээр үлдээгээд дээр нь нэмэлт хэрэгсэл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58400" y="1371600"/>
            <a:ext cx="2286000" cy="4572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52760" y="1554480"/>
            <a:ext cx="1097280" cy="1097280"/>
          </a:xfrm>
          <a:prstGeom prst="ellipse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2834640"/>
            <a:ext cx="210312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1">
                <a:solidFill>
                  <a:srgbClr val="1B5E20"/>
                </a:solidFill>
                <a:latin typeface="Arial"/>
              </a:rPr>
              <a:t>1-2 САРЫН ДОТОР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5560" y="3840480"/>
            <a:ext cx="2011680" cy="182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212121"/>
                </a:solidFill>
                <a:latin typeface="Arial"/>
              </a:rPr>
              <a:t>Бүх айлд тарж ашиглагдана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124712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400" b="1">
                <a:solidFill>
                  <a:srgbClr val="FFB800"/>
                </a:solidFill>
                <a:latin typeface="Arial"/>
              </a:rPr>
              <a:t>🐑 МАЛЧИН АПП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828800"/>
            <a:ext cx="10332720" cy="1828800"/>
          </a:xfrm>
          <a:prstGeom prst="roundRect">
            <a:avLst/>
          </a:prstGeom>
          <a:solidFill>
            <a:srgbClr val="FFF8E1"/>
          </a:solidFill>
          <a:ln w="38100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/>
            <a:r>
              <a:rPr sz="2800" b="1">
                <a:solidFill>
                  <a:srgbClr val="1B5E20"/>
                </a:solidFill>
                <a:latin typeface="Arial"/>
              </a:rPr>
              <a:t>«Малчны өглөөний дэвтэр,</a:t>
            </a:r>
          </a:p>
          <a:p>
            <a:pPr algn="ctr"/>
            <a:r>
              <a:rPr sz="2800" b="1">
                <a:solidFill>
                  <a:srgbClr val="1B5E20"/>
                </a:solidFill>
                <a:latin typeface="Arial"/>
              </a:rPr>
              <a:t>өдрийн зөвлөх, оройн тооцоо</a:t>
            </a:r>
          </a:p>
          <a:p>
            <a:pPr algn="ctr"/>
            <a:r>
              <a:rPr sz="2800" b="1">
                <a:solidFill>
                  <a:srgbClr val="1B5E20"/>
                </a:solidFill>
                <a:latin typeface="Arial"/>
              </a:rPr>
              <a:t>— нэг утсан дээр»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023360"/>
            <a:ext cx="8686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rial"/>
              </a:rPr>
              <a:t>🏠  Багийн БҮХ ӨРХТЭЙ холбогдсон хэвээр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480560"/>
            <a:ext cx="8686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rial"/>
              </a:rPr>
              <a:t>📊  Тайлан илгээх ажил ХӨНГӨВЧЛӨНӨ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937760"/>
            <a:ext cx="8686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rial"/>
              </a:rPr>
              <a:t>⚠️  Эрсдэл ирэхэд ЦАГ АЛДАЛГҮЙ сэрэмжлүүлнэ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394960"/>
            <a:ext cx="8686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rial"/>
              </a:rPr>
              <a:t>🏛  Сумын удирдлагатай БЭЛЭН МЭДЭЭЛЛЭЭР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1">
                <a:solidFill>
                  <a:srgbClr val="FFB800"/>
                </a:solidFill>
                <a:latin typeface="Arial"/>
              </a:rPr>
              <a:t>БАЯРЛАЛАА  •  АСУУЛТ БАЙВАЛ АПП ДОТРООС «ТУСЛАМЖ» ХЭСГИЙГ ҮЗНЭ ҮҮ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